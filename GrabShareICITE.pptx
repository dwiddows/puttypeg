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9144000"/>
  <p:notesSz cx="6858000" cy="9144000"/>
  <p:embeddedFontLst>
    <p:embeddedFont>
      <p:font typeface="Pinyon Script"/>
      <p:regular r:id="rId13"/>
    </p:embeddedFont>
    <p:embeddedFont>
      <p:font typeface="Alegrey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inyonScrip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legreya-bold.fntdata"/><Relationship Id="rId14" Type="http://schemas.openxmlformats.org/officeDocument/2006/relationships/font" Target="fonts/Alegreya-regular.fntdata"/><Relationship Id="rId17" Type="http://schemas.openxmlformats.org/officeDocument/2006/relationships/font" Target="fonts/Alegreya-boldItalic.fntdata"/><Relationship Id="rId16" Type="http://schemas.openxmlformats.org/officeDocument/2006/relationships/font" Target="fonts/Alegrey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dk1"/>
              </a:buClr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Clr>
                <a:schemeClr val="dk1"/>
              </a:buClr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Clr>
                <a:schemeClr val="dk1"/>
              </a:buClr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Clr>
                <a:schemeClr val="dk1"/>
              </a:buClr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Clr>
                <a:schemeClr val="dk1"/>
              </a:buClr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Clr>
                <a:schemeClr val="dk1"/>
              </a:buClr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Clr>
                <a:schemeClr val="dk1"/>
              </a:buClr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Clr>
                <a:schemeClr val="dk1"/>
              </a:buClr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Clr>
                <a:schemeClr val="dk1"/>
              </a:buClr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buSzPct val="100000"/>
              <a:buFont typeface="Arial"/>
              <a:buAutoNum type="arabi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2M rides in first 2 months in Singapore</a:t>
            </a:r>
          </a:p>
        </p:txBody>
      </p:sp>
      <p:sp>
        <p:nvSpPr>
          <p:cNvPr id="93" name="Shape 93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buSzPct val="100000"/>
              <a:buFont typeface="Arial"/>
              <a:buAutoNum type="arabicPeriod"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Shape 10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marR="0" rtl="0" algn="l">
              <a:spcBef>
                <a:spcPts val="0"/>
              </a:spcBef>
              <a:buAutoNum type="arabi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Open mind - Listen. There will be sharing from other countries. Opportunity to learn from others</a:t>
            </a:r>
          </a:p>
          <a:p>
            <a:pPr indent="-298450" lvl="0" marL="457200" marR="0" rtl="0" algn="l">
              <a:spcBef>
                <a:spcPts val="0"/>
              </a:spcBef>
              <a:buSzPct val="100000"/>
              <a:buFont typeface="Arial"/>
              <a:buAutoNum type="arabi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Challenge each other - Don’t be afraid to question, discussions are healthy</a:t>
            </a:r>
          </a:p>
          <a:p>
            <a:pPr indent="-298450" lvl="0" marL="457200" marR="0" rtl="0" algn="l">
              <a:spcBef>
                <a:spcPts val="0"/>
              </a:spcBef>
              <a:buSzPct val="100000"/>
              <a:buFont typeface="Arial"/>
              <a:buAutoNum type="arabi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Respect each other - Others may have different POVs </a:t>
            </a:r>
          </a:p>
        </p:txBody>
      </p:sp>
      <p:sp>
        <p:nvSpPr>
          <p:cNvPr id="109" name="Shape 10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buSzPct val="100000"/>
              <a:buFont typeface="Arial"/>
              <a:buAutoNum type="arabicPeriod"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Shape 12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buSzPct val="100000"/>
              <a:buFont typeface="Arial"/>
              <a:buAutoNum type="arabicPeriod"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Shape 13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Shape 13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buSzPct val="100000"/>
              <a:buFont typeface="Arial"/>
              <a:buAutoNum type="arabicPeriod"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Shape 144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type="ctrTitle"/>
          </p:nvPr>
        </p:nvSpPr>
        <p:spPr>
          <a:xfrm>
            <a:off x="685800" y="2130425"/>
            <a:ext cx="7772400" cy="1470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obj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635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698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25400" lvl="3" marL="1600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25400" lvl="4" marL="2057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25400" lvl="5" marL="2514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25400" lvl="6" marL="2971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25400" lvl="7" marL="3429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25400" lvl="8" marL="3886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/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1" i="0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Shape 32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Obj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x="457200" y="1600200"/>
            <a:ext cx="40385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127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19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254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600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057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14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971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429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86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Shape 36"/>
          <p:cNvSpPr txBox="1"/>
          <p:nvPr>
            <p:ph idx="2" type="body"/>
          </p:nvPr>
        </p:nvSpPr>
        <p:spPr>
          <a:xfrm>
            <a:off x="4648200" y="1600200"/>
            <a:ext cx="40385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127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19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254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600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057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14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971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429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86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TxTwoObj">
  <p:cSld name="Comparis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2" type="body"/>
          </p:nvPr>
        </p:nvSpPr>
        <p:spPr>
          <a:xfrm>
            <a:off x="457200" y="2174875"/>
            <a:ext cx="4040187" cy="39512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381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5400" lvl="3" marL="1600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5400" lvl="4" marL="2057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5400" lvl="5" marL="2514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5400" lvl="6" marL="2971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5400" lvl="7" marL="3429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5400" lvl="8" marL="3886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3" type="body"/>
          </p:nvPr>
        </p:nvSpPr>
        <p:spPr>
          <a:xfrm>
            <a:off x="4645025" y="1535112"/>
            <a:ext cx="404177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4" type="body"/>
          </p:nvPr>
        </p:nvSpPr>
        <p:spPr>
          <a:xfrm>
            <a:off x="4645025" y="2174875"/>
            <a:ext cx="4041773" cy="39512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381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5400" lvl="3" marL="1600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5400" lvl="4" marL="2057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5400" lvl="5" marL="2514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5400" lvl="6" marL="2971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5400" lvl="7" marL="3429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5400" lvl="8" marL="3886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objTx">
  <p:cSld name="Content with Ca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title"/>
          </p:nvPr>
        </p:nvSpPr>
        <p:spPr>
          <a:xfrm>
            <a:off x="457200" y="273050"/>
            <a:ext cx="3008313" cy="116204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3575050" y="273050"/>
            <a:ext cx="5111750" cy="58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635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698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25400" lvl="3" marL="1600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25400" lvl="4" marL="2057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25400" lvl="5" marL="2514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25400" lvl="6" marL="2971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25400" lvl="7" marL="3429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25400" lvl="8" marL="3886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Shape 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picTx">
  <p:cSld name="Picture with Ca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1792288" y="4800600"/>
            <a:ext cx="5486399" cy="56673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67" name="Shape 67"/>
          <p:cNvSpPr/>
          <p:nvPr>
            <p:ph idx="2" type="pic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vertTx">
  <p:cSld name="Title and Vertical 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74" name="Shape 74"/>
          <p:cNvSpPr txBox="1"/>
          <p:nvPr>
            <p:ph idx="1" type="body"/>
          </p:nvPr>
        </p:nvSpPr>
        <p:spPr>
          <a:xfrm rot="5400000">
            <a:off x="2309017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635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698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25400" lvl="3" marL="1600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25400" lvl="4" marL="2057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25400" lvl="5" marL="2514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25400" lvl="6" marL="2971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25400" lvl="7" marL="3429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25400" lvl="8" marL="3886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vertTitleAndTx">
  <p:cSld name="Vertical Title and 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 rot="5400000">
            <a:off x="4732336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 rot="5400000">
            <a:off x="541336" y="190500"/>
            <a:ext cx="5851525" cy="60197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635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698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25400" lvl="3" marL="1600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25400" lvl="4" marL="2057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25400" lvl="5" marL="2514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25400" lvl="6" marL="2971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25400" lvl="7" marL="3429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25400" lvl="8" marL="3886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Font typeface="Arial"/>
              <a:buNone/>
              <a:defRPr sz="1800"/>
            </a:lvl2pPr>
            <a:lvl3pPr indent="0" lvl="2">
              <a:spcBef>
                <a:spcPts val="0"/>
              </a:spcBef>
              <a:buFont typeface="Arial"/>
              <a:buNone/>
              <a:defRPr sz="1800"/>
            </a:lvl3pPr>
            <a:lvl4pPr indent="0" lvl="3">
              <a:spcBef>
                <a:spcPts val="0"/>
              </a:spcBef>
              <a:buFont typeface="Arial"/>
              <a:buNone/>
              <a:defRPr sz="1800"/>
            </a:lvl4pPr>
            <a:lvl5pPr indent="0" lvl="4">
              <a:spcBef>
                <a:spcPts val="0"/>
              </a:spcBef>
              <a:buFont typeface="Arial"/>
              <a:buNone/>
              <a:defRPr sz="1800"/>
            </a:lvl5pPr>
            <a:lvl6pPr indent="0" lvl="5">
              <a:spcBef>
                <a:spcPts val="0"/>
              </a:spcBef>
              <a:buFont typeface="Arial"/>
              <a:buNone/>
              <a:defRPr sz="1800"/>
            </a:lvl6pPr>
            <a:lvl7pPr indent="0" lvl="6">
              <a:spcBef>
                <a:spcPts val="0"/>
              </a:spcBef>
              <a:buFont typeface="Arial"/>
              <a:buNone/>
              <a:defRPr sz="1800"/>
            </a:lvl7pPr>
            <a:lvl8pPr indent="0" lvl="7">
              <a:spcBef>
                <a:spcPts val="0"/>
              </a:spcBef>
              <a:buFont typeface="Arial"/>
              <a:buNone/>
              <a:defRPr sz="1800"/>
            </a:lvl8pPr>
            <a:lvl9pPr indent="0" lvl="8">
              <a:spcBef>
                <a:spcPts val="0"/>
              </a:spcBef>
              <a:buFont typeface="Arial"/>
              <a:buNone/>
              <a:defRPr sz="1800"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635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698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25400" lvl="3" marL="1600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25400" lvl="4" marL="2057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25400" lvl="5" marL="2514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25400" lvl="6" marL="2971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25400" lvl="7" marL="3429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25400" lvl="8" marL="3886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0" type="dt"/>
          </p:nvPr>
        </p:nvSpPr>
        <p:spPr>
          <a:xfrm>
            <a:off x="457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6553200" y="6356350"/>
            <a:ext cx="21335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www.grab.com/sg/share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B14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6032" y="0"/>
            <a:ext cx="126796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/>
          <p:nvPr/>
        </p:nvSpPr>
        <p:spPr>
          <a:xfrm>
            <a:off x="457200" y="2438400"/>
            <a:ext cx="7529803" cy="1482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i="0" lang="en-US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GrabShare</a:t>
            </a:r>
            <a:r>
              <a:rPr b="1" lang="en-US" sz="3500">
                <a:solidFill>
                  <a:schemeClr val="lt1"/>
                </a:solidFill>
              </a:rPr>
              <a:t>: The Construction of a Realtime Ridesharing Service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-US" sz="2400">
                <a:solidFill>
                  <a:srgbClr val="FFFFFF"/>
                </a:solidFill>
              </a:rPr>
              <a:t>Dominic Widdows, Jacob Lucas,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-US" sz="2400">
                <a:solidFill>
                  <a:srgbClr val="FFFFFF"/>
                </a:solidFill>
              </a:rPr>
              <a:t>Muchen Tang, Weilun Wu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-US" sz="2400">
                <a:solidFill>
                  <a:srgbClr val="FFFFFF"/>
                </a:solidFill>
              </a:rPr>
              <a:t>Grab Technologies</a:t>
            </a:r>
          </a:p>
        </p:txBody>
      </p:sp>
      <p:pic>
        <p:nvPicPr>
          <p:cNvPr descr="Logo.png" id="90" name="Shape 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037" y="609366"/>
            <a:ext cx="2570162" cy="990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Shape 95"/>
          <p:cNvPicPr preferRelativeResize="0"/>
          <p:nvPr/>
        </p:nvPicPr>
        <p:blipFill rotWithShape="1">
          <a:blip r:embed="rId3">
            <a:alphaModFix/>
          </a:blip>
          <a:srcRect b="84248" l="-3150" r="3140" t="0"/>
          <a:stretch/>
        </p:blipFill>
        <p:spPr>
          <a:xfrm>
            <a:off x="-1015" y="0"/>
            <a:ext cx="91449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Shape 96"/>
          <p:cNvSpPr txBox="1"/>
          <p:nvPr/>
        </p:nvSpPr>
        <p:spPr>
          <a:xfrm>
            <a:off x="784447" y="615910"/>
            <a:ext cx="7339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140"/>
              </a:buClr>
              <a:buSzPct val="25000"/>
              <a:buFont typeface="Arial"/>
              <a:buNone/>
            </a:pPr>
            <a:r>
              <a:rPr b="1" lang="en-US" sz="3200">
                <a:solidFill>
                  <a:srgbClr val="00B140"/>
                </a:solidFill>
              </a:rPr>
              <a:t>What is GrabShare?</a:t>
            </a:r>
          </a:p>
        </p:txBody>
      </p:sp>
      <p:sp>
        <p:nvSpPr>
          <p:cNvPr id="97" name="Shape 97"/>
          <p:cNvSpPr/>
          <p:nvPr/>
        </p:nvSpPr>
        <p:spPr>
          <a:xfrm>
            <a:off x="2806700" y="3132138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25000"/>
              <a:buFont typeface="Arial"/>
              <a:buNone/>
            </a:pPr>
            <a:br>
              <a:rPr b="0" i="0" lang="en-US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Shape 98"/>
          <p:cNvSpPr txBox="1"/>
          <p:nvPr/>
        </p:nvSpPr>
        <p:spPr>
          <a:xfrm>
            <a:off x="900300" y="1388450"/>
            <a:ext cx="7705200" cy="4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</a:rPr>
              <a:t>Grab is Southeast Asia’s foremost ridehailing platform</a:t>
            </a:r>
          </a:p>
          <a:p>
            <a:pPr indent="-38100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400">
                <a:solidFill>
                  <a:schemeClr val="dk1"/>
                </a:solidFill>
              </a:rPr>
              <a:t>“It’s an app” - and much more </a:t>
            </a:r>
          </a:p>
          <a:p>
            <a:pPr indent="-38100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400"/>
              <a:t>Creating the safest transport platform</a:t>
            </a:r>
          </a:p>
          <a:p>
            <a:pPr indent="-38100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400"/>
              <a:t>Making transportation accessible to all</a:t>
            </a:r>
          </a:p>
          <a:p>
            <a:pPr indent="-38100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400"/>
              <a:t>Improving the livelihoods of our partners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-38100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</a:rPr>
              <a:t>Taxis, Cars, Bikes, Shuttles</a:t>
            </a:r>
          </a:p>
          <a:p>
            <a:pPr lvl="0" rtl="0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</a:rPr>
              <a:t>GrabShare - Shared cars and taxis</a:t>
            </a:r>
          </a:p>
          <a:p>
            <a:pPr indent="-38100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400" u="sng">
                <a:solidFill>
                  <a:schemeClr val="hlink"/>
                </a:solidFill>
                <a:hlinkClick r:id="rId4"/>
              </a:rPr>
              <a:t>https://www.grab.com/sg/share/</a:t>
            </a:r>
          </a:p>
          <a:p>
            <a:pPr indent="-38100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400">
                <a:solidFill>
                  <a:schemeClr val="dk1"/>
                </a:solidFill>
              </a:rPr>
              <a:t>Singapore, Manila, Kuala Lumpur, Jakarta,           Ho Chi Minh City, Hanoi, Medan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Shape 103"/>
          <p:cNvPicPr preferRelativeResize="0"/>
          <p:nvPr/>
        </p:nvPicPr>
        <p:blipFill rotWithShape="1">
          <a:blip r:embed="rId3">
            <a:alphaModFix/>
          </a:blip>
          <a:srcRect b="84248" l="-3150" r="3140" t="0"/>
          <a:stretch/>
        </p:blipFill>
        <p:spPr>
          <a:xfrm>
            <a:off x="-1015" y="0"/>
            <a:ext cx="91449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Shape 104"/>
          <p:cNvSpPr txBox="1"/>
          <p:nvPr/>
        </p:nvSpPr>
        <p:spPr>
          <a:xfrm>
            <a:off x="784447" y="615910"/>
            <a:ext cx="7339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140"/>
              </a:buClr>
              <a:buSzPct val="25000"/>
              <a:buFont typeface="Arial"/>
              <a:buNone/>
            </a:pPr>
            <a:r>
              <a:rPr b="1" lang="en-US" sz="3200">
                <a:solidFill>
                  <a:srgbClr val="00B140"/>
                </a:solidFill>
              </a:rPr>
              <a:t>Tech Ecosystem</a:t>
            </a:r>
          </a:p>
        </p:txBody>
      </p:sp>
      <p:sp>
        <p:nvSpPr>
          <p:cNvPr id="105" name="Shape 105"/>
          <p:cNvSpPr/>
          <p:nvPr/>
        </p:nvSpPr>
        <p:spPr>
          <a:xfrm>
            <a:off x="2806700" y="3132138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25000"/>
              <a:buFont typeface="Arial"/>
              <a:buNone/>
            </a:pPr>
            <a:br>
              <a:rPr b="0" i="0" lang="en-US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Shape 106"/>
          <p:cNvSpPr txBox="1"/>
          <p:nvPr/>
        </p:nvSpPr>
        <p:spPr>
          <a:xfrm>
            <a:off x="900300" y="1388450"/>
            <a:ext cx="7705200" cy="4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6195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Drivers</a:t>
            </a:r>
          </a:p>
          <a:p>
            <a:pPr indent="-361950" lvl="0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Autonomous agents</a:t>
            </a:r>
          </a:p>
          <a:p>
            <a:pPr indent="-361950" lvl="0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Want to earn money</a:t>
            </a:r>
          </a:p>
          <a:p>
            <a:pPr lvl="0" rtl="0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Passengers</a:t>
            </a:r>
          </a:p>
          <a:p>
            <a:pPr indent="-361950" lvl="0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Want to move around</a:t>
            </a:r>
          </a:p>
          <a:p>
            <a:pPr lvl="0" rtl="0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Connections Sporadic</a:t>
            </a:r>
          </a:p>
          <a:p>
            <a:pPr indent="-361950" lvl="0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This is the cloud!</a:t>
            </a:r>
          </a:p>
          <a:p>
            <a:pPr lvl="0" rtl="0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“The Cloud” (backend, where I work)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Shape 111"/>
          <p:cNvPicPr preferRelativeResize="0"/>
          <p:nvPr/>
        </p:nvPicPr>
        <p:blipFill rotWithShape="1">
          <a:blip r:embed="rId3">
            <a:alphaModFix/>
          </a:blip>
          <a:srcRect b="84248" l="-3150" r="3140" t="0"/>
          <a:stretch/>
        </p:blipFill>
        <p:spPr>
          <a:xfrm>
            <a:off x="-1015" y="0"/>
            <a:ext cx="91449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784447" y="615910"/>
            <a:ext cx="7339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140"/>
              </a:buClr>
              <a:buSzPct val="25000"/>
              <a:buFont typeface="Arial"/>
              <a:buNone/>
            </a:pPr>
            <a:r>
              <a:rPr b="1" lang="en-US" sz="3200">
                <a:solidFill>
                  <a:srgbClr val="00B140"/>
                </a:solidFill>
              </a:rPr>
              <a:t>Scheduling</a:t>
            </a:r>
          </a:p>
        </p:txBody>
      </p:sp>
      <p:sp>
        <p:nvSpPr>
          <p:cNvPr id="113" name="Shape 113"/>
          <p:cNvSpPr/>
          <p:nvPr/>
        </p:nvSpPr>
        <p:spPr>
          <a:xfrm>
            <a:off x="2011900" y="2200063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25000"/>
              <a:buFont typeface="Arial"/>
              <a:buNone/>
            </a:pPr>
            <a:br>
              <a:rPr b="0" i="0" lang="en-US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 Shot 2017-09-01 at 11.41.41 AM.png" id="114" name="Shape 114"/>
          <p:cNvPicPr preferRelativeResize="0"/>
          <p:nvPr/>
        </p:nvPicPr>
        <p:blipFill rotWithShape="1">
          <a:blip r:embed="rId4">
            <a:alphaModFix/>
          </a:blip>
          <a:srcRect b="0" l="25997" r="0" t="0"/>
          <a:stretch/>
        </p:blipFill>
        <p:spPr>
          <a:xfrm>
            <a:off x="1886275" y="1406150"/>
            <a:ext cx="5466776" cy="33056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pic>
      <p:sp>
        <p:nvSpPr>
          <p:cNvPr id="115" name="Shape 115"/>
          <p:cNvSpPr/>
          <p:nvPr/>
        </p:nvSpPr>
        <p:spPr>
          <a:xfrm>
            <a:off x="2265975" y="3041725"/>
            <a:ext cx="4441600" cy="402750"/>
          </a:xfrm>
          <a:custGeom>
            <a:pathLst>
              <a:path extrusionOk="0" h="16110" w="177664">
                <a:moveTo>
                  <a:pt x="177664" y="16110"/>
                </a:moveTo>
                <a:lnTo>
                  <a:pt x="155571" y="6904"/>
                </a:lnTo>
                <a:lnTo>
                  <a:pt x="152349" y="921"/>
                </a:lnTo>
                <a:lnTo>
                  <a:pt x="3222" y="5984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lg" w="lg" type="none"/>
            <a:tailEnd len="lg" w="lg" type="none"/>
          </a:ln>
        </p:spPr>
      </p:sp>
      <p:cxnSp>
        <p:nvCxnSpPr>
          <p:cNvPr id="116" name="Shape 116"/>
          <p:cNvCxnSpPr/>
          <p:nvPr/>
        </p:nvCxnSpPr>
        <p:spPr>
          <a:xfrm rot="10800000">
            <a:off x="2265850" y="3007325"/>
            <a:ext cx="3900900" cy="20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lg" w="lg" type="none"/>
            <a:tailEnd len="lg" w="lg" type="none"/>
          </a:ln>
        </p:spPr>
      </p:cxnSp>
      <p:cxnSp>
        <p:nvCxnSpPr>
          <p:cNvPr id="117" name="Shape 117"/>
          <p:cNvCxnSpPr/>
          <p:nvPr/>
        </p:nvCxnSpPr>
        <p:spPr>
          <a:xfrm flipH="1">
            <a:off x="2334900" y="3064750"/>
            <a:ext cx="3739800" cy="11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lg" w="lg" type="none"/>
            <a:tailEnd len="lg" w="lg" type="none"/>
          </a:ln>
        </p:spPr>
      </p:cxnSp>
      <p:sp>
        <p:nvSpPr>
          <p:cNvPr id="118" name="Shape 118"/>
          <p:cNvSpPr txBox="1"/>
          <p:nvPr/>
        </p:nvSpPr>
        <p:spPr>
          <a:xfrm>
            <a:off x="897525" y="4790775"/>
            <a:ext cx="7226400" cy="1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  <a:buChar char="●"/>
            </a:pPr>
            <a:r>
              <a:rPr lang="en-US" sz="2400"/>
              <a:t>ETA to pickup</a:t>
            </a:r>
          </a:p>
          <a:p>
            <a:pPr indent="-381000" lvl="0" marL="457200" rtl="0">
              <a:spcBef>
                <a:spcPts val="0"/>
              </a:spcBef>
              <a:buSzPct val="100000"/>
              <a:buChar char="●"/>
            </a:pPr>
            <a:r>
              <a:rPr lang="en-US" sz="2400"/>
              <a:t>Overlap</a:t>
            </a:r>
          </a:p>
          <a:p>
            <a:pPr indent="-381000" lvl="0" marL="457200" rtl="0">
              <a:spcBef>
                <a:spcPts val="0"/>
              </a:spcBef>
              <a:buSzPct val="100000"/>
              <a:buChar char="●"/>
            </a:pPr>
            <a:r>
              <a:rPr lang="en-US" sz="2400"/>
              <a:t>Travel time increase for each passenger</a:t>
            </a:r>
          </a:p>
          <a:p>
            <a:pPr indent="-381000" lvl="0" marL="457200">
              <a:spcBef>
                <a:spcPts val="0"/>
              </a:spcBef>
              <a:buSzPct val="100000"/>
              <a:buChar char="●"/>
            </a:pPr>
            <a:r>
              <a:rPr lang="en-US" sz="2400"/>
              <a:t>Angle between bookings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Shape 123"/>
          <p:cNvPicPr preferRelativeResize="0"/>
          <p:nvPr/>
        </p:nvPicPr>
        <p:blipFill rotWithShape="1">
          <a:blip r:embed="rId3">
            <a:alphaModFix/>
          </a:blip>
          <a:srcRect b="84248" l="-3150" r="3140" t="0"/>
          <a:stretch/>
        </p:blipFill>
        <p:spPr>
          <a:xfrm>
            <a:off x="-1015" y="0"/>
            <a:ext cx="91449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Shape 124"/>
          <p:cNvSpPr txBox="1"/>
          <p:nvPr/>
        </p:nvSpPr>
        <p:spPr>
          <a:xfrm>
            <a:off x="784447" y="615910"/>
            <a:ext cx="7339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140"/>
              </a:buClr>
              <a:buSzPct val="25000"/>
              <a:buFont typeface="Arial"/>
              <a:buNone/>
            </a:pPr>
            <a:r>
              <a:rPr b="1" lang="en-US" sz="3200">
                <a:solidFill>
                  <a:srgbClr val="00B140"/>
                </a:solidFill>
              </a:rPr>
              <a:t>Backend System Architecture</a:t>
            </a:r>
          </a:p>
        </p:txBody>
      </p:sp>
      <p:sp>
        <p:nvSpPr>
          <p:cNvPr id="125" name="Shape 125"/>
          <p:cNvSpPr/>
          <p:nvPr/>
        </p:nvSpPr>
        <p:spPr>
          <a:xfrm>
            <a:off x="2806700" y="3132138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25000"/>
              <a:buFont typeface="Arial"/>
              <a:buNone/>
            </a:pPr>
            <a:br>
              <a:rPr b="0" i="0" lang="en-US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Shape 126"/>
          <p:cNvSpPr txBox="1"/>
          <p:nvPr/>
        </p:nvSpPr>
        <p:spPr>
          <a:xfrm>
            <a:off x="900300" y="1388450"/>
            <a:ext cx="7705200" cy="4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lvl="0" rtl="0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Screen Shot 2017-09-01 at 12.08.22 PM.png" id="127" name="Shape 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85469"/>
            <a:ext cx="9143999" cy="5506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Shape 132"/>
          <p:cNvPicPr preferRelativeResize="0"/>
          <p:nvPr/>
        </p:nvPicPr>
        <p:blipFill rotWithShape="1">
          <a:blip r:embed="rId3">
            <a:alphaModFix/>
          </a:blip>
          <a:srcRect b="84248" l="-3150" r="3140" t="0"/>
          <a:stretch/>
        </p:blipFill>
        <p:spPr>
          <a:xfrm>
            <a:off x="-1015" y="0"/>
            <a:ext cx="91449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Shape 133"/>
          <p:cNvSpPr txBox="1"/>
          <p:nvPr/>
        </p:nvSpPr>
        <p:spPr>
          <a:xfrm>
            <a:off x="784447" y="615910"/>
            <a:ext cx="7339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140"/>
              </a:buClr>
              <a:buSzPct val="25000"/>
              <a:buFont typeface="Arial"/>
              <a:buNone/>
            </a:pPr>
            <a:r>
              <a:rPr b="1" lang="en-US" sz="3200">
                <a:solidFill>
                  <a:srgbClr val="00B140"/>
                </a:solidFill>
              </a:rPr>
              <a:t>Lots of other teams!</a:t>
            </a:r>
          </a:p>
        </p:txBody>
      </p:sp>
      <p:sp>
        <p:nvSpPr>
          <p:cNvPr id="134" name="Shape 134"/>
          <p:cNvSpPr/>
          <p:nvPr/>
        </p:nvSpPr>
        <p:spPr>
          <a:xfrm>
            <a:off x="2806700" y="3132138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25000"/>
              <a:buFont typeface="Arial"/>
              <a:buNone/>
            </a:pPr>
            <a:br>
              <a:rPr b="0" i="0" lang="en-US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Shape 135"/>
          <p:cNvSpPr txBox="1"/>
          <p:nvPr/>
        </p:nvSpPr>
        <p:spPr>
          <a:xfrm>
            <a:off x="900300" y="1388450"/>
            <a:ext cx="7705200" cy="4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6195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Pricing</a:t>
            </a:r>
          </a:p>
          <a:p>
            <a:pPr indent="-36195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100">
                <a:solidFill>
                  <a:schemeClr val="dk1"/>
                </a:solidFill>
              </a:rPr>
              <a:t>The more efficient, the bigger discount</a:t>
            </a:r>
          </a:p>
          <a:p>
            <a:pPr indent="-36195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100">
                <a:solidFill>
                  <a:schemeClr val="dk1"/>
                </a:solidFill>
              </a:rPr>
              <a:t>But we have to predict this for first passenger ...</a:t>
            </a:r>
          </a:p>
          <a:p>
            <a:pPr indent="-36195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Driver Training</a:t>
            </a:r>
          </a:p>
          <a:p>
            <a:pPr indent="-36195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Feedback</a:t>
            </a:r>
          </a:p>
          <a:p>
            <a:pPr indent="-36195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100">
                <a:solidFill>
                  <a:schemeClr val="dk1"/>
                </a:solidFill>
              </a:rPr>
              <a:t>Yes there are complaints</a:t>
            </a:r>
          </a:p>
          <a:p>
            <a:pPr indent="-36195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100">
                <a:solidFill>
                  <a:schemeClr val="dk1"/>
                </a:solidFill>
              </a:rPr>
              <a:t>Yes we pay attention to them!</a:t>
            </a:r>
          </a:p>
          <a:p>
            <a:pPr indent="-36195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Travel Time Estimates</a:t>
            </a:r>
          </a:p>
          <a:p>
            <a:pPr indent="-36195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100">
                <a:solidFill>
                  <a:schemeClr val="dk1"/>
                </a:solidFill>
              </a:rPr>
              <a:t>Road Data </a:t>
            </a:r>
          </a:p>
          <a:p>
            <a:pPr indent="-361950" lvl="1" marL="9144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lang="en-US" sz="2100">
                <a:solidFill>
                  <a:schemeClr val="dk1"/>
                </a:solidFill>
              </a:rPr>
              <a:t>Realtime Traffic Data</a:t>
            </a:r>
          </a:p>
          <a:p>
            <a:pPr lvl="0" rtl="0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●"/>
            </a:pPr>
            <a:r>
              <a:rPr lang="en-US" sz="2100">
                <a:solidFill>
                  <a:schemeClr val="dk1"/>
                </a:solidFill>
              </a:rPr>
              <a:t>Moving Southeast Asia Forward!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B14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Shape 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6032" y="0"/>
            <a:ext cx="1268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Shape 141"/>
          <p:cNvSpPr txBox="1"/>
          <p:nvPr/>
        </p:nvSpPr>
        <p:spPr>
          <a:xfrm>
            <a:off x="457200" y="2438400"/>
            <a:ext cx="7529700" cy="25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  <a:latin typeface="Pinyon Script"/>
                <a:ea typeface="Pinyon Script"/>
                <a:cs typeface="Pinyon Script"/>
                <a:sym typeface="Pinyon Script"/>
              </a:rPr>
              <a:t>Thank you!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t/>
            </a:r>
            <a:endParaRPr b="1" sz="3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1" lang="en-US" sz="3500">
                <a:solidFill>
                  <a:schemeClr val="lt1"/>
                </a:solidFill>
                <a:latin typeface="Alegreya"/>
                <a:ea typeface="Alegreya"/>
                <a:cs typeface="Alegreya"/>
                <a:sym typeface="Alegreya"/>
              </a:rPr>
              <a:t>(And please try it out)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Alegreya"/>
              <a:ea typeface="Alegreya"/>
              <a:cs typeface="Alegreya"/>
              <a:sym typeface="Alegrey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legreya"/>
                <a:ea typeface="Alegreya"/>
                <a:cs typeface="Alegreya"/>
                <a:sym typeface="Alegreya"/>
              </a:rPr>
              <a:t>Feedback to: dominic.widdows@grab.com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Shape 146"/>
          <p:cNvPicPr preferRelativeResize="0"/>
          <p:nvPr/>
        </p:nvPicPr>
        <p:blipFill rotWithShape="1">
          <a:blip r:embed="rId3">
            <a:alphaModFix/>
          </a:blip>
          <a:srcRect b="84248" l="-3150" r="3140" t="0"/>
          <a:stretch/>
        </p:blipFill>
        <p:spPr>
          <a:xfrm>
            <a:off x="-1015" y="0"/>
            <a:ext cx="91449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Shape 147"/>
          <p:cNvSpPr txBox="1"/>
          <p:nvPr/>
        </p:nvSpPr>
        <p:spPr>
          <a:xfrm>
            <a:off x="784447" y="615910"/>
            <a:ext cx="7339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140"/>
              </a:buClr>
              <a:buSzPct val="25000"/>
              <a:buFont typeface="Arial"/>
              <a:buNone/>
            </a:pPr>
            <a:r>
              <a:rPr b="1" lang="en-US" sz="3200">
                <a:solidFill>
                  <a:srgbClr val="00B140"/>
                </a:solidFill>
              </a:rPr>
              <a:t>Template</a:t>
            </a:r>
          </a:p>
        </p:txBody>
      </p:sp>
      <p:sp>
        <p:nvSpPr>
          <p:cNvPr id="148" name="Shape 148"/>
          <p:cNvSpPr/>
          <p:nvPr/>
        </p:nvSpPr>
        <p:spPr>
          <a:xfrm>
            <a:off x="2806700" y="3132138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25000"/>
              <a:buFont typeface="Arial"/>
              <a:buNone/>
            </a:pPr>
            <a:br>
              <a:rPr b="0" i="0" lang="en-US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Shape 149"/>
          <p:cNvSpPr txBox="1"/>
          <p:nvPr/>
        </p:nvSpPr>
        <p:spPr>
          <a:xfrm>
            <a:off x="900300" y="1388450"/>
            <a:ext cx="7705200" cy="4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lvl="0" rtl="0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EN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